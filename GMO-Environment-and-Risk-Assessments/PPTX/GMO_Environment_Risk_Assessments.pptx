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contrasting a Bt crop, a vitamin-biofortified crop and a GM microorganism: same word 'GMO', entirely different assessment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labs 01-12 shadow the modules; the capstone synthesizes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three-part hazard statement: agent, mechanism, endpoint. Anything less is not assessable.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every stage know: inputs, questions, data, methods, outputs, limitations,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 problem formulation is the most common root cause of contested assessments.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five-box chain; each arrow is a transfer factor students compute in Lab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Monte Carlo figure: a distribution, not a point. Lab 10 builds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salmon example: assessors characterize escapement; managers choose containment; communicators explain triple-barrier facilities - three different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Pollen exposure: high-magnitude, short-duration. Soil protein: low-magnitude, long-duration. Gene flow: rare, potentially irreversible. Each demands different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directly to hazard identification: what is expressed, where, how much determines exposure biology.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Lab 07: one analyte among 50 will 'differ' by chance alone - multiplicity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Crop identity dominates: same trait, different crop = entirely different gene-flow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build local flowering-calendar overlays - it converts an abstract hazard into a testable seasonal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gate is a filter; introgression needs all of them - that is why it is often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03 walks the fit; the management sentence students must produce is threshold-based.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 volunteers are typically a management problem, not an invasiveness problem - keep categories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Drought-tolerance traits deserve sharper invasiveness scrutiny in water-limited landscapes - trait-specific, not generic.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Tier 1 is a hazard screen; tiers 2-3 are where risk lives. Lab 04 trains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Perfect for discussing how one laboratory result became a global narrative before exposure analysis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common analytical bias in public literature - Lab 04 quantifies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pitfalls explain most contradictions between published non-target studies - students can now read that literature critically.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spatial/temporal variability dominates soil noise; multi-season designs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weed-seed → bird pathway makes indirect effects tangible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Bridging slide: ecosystem-service framing makes the Module 3 protection-goal language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05 builds this recursion; the refuge effect is dramatic and compliance-dependent.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Bt cotton: resistance risk is manageable with effective refuges - the constraint is enforcement.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the 'superweeds' shorthand - the accurate statement is selection under the management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Pink bollworm case: monitoring with pre-agreed triggers enabled region-scale eradication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to the dose-response figure: fate determines realized exposure against LC50s.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06 computes the full chain; worst-case framing is a screening device, not a field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scenario types is a classic dossier defect - one table mixing central and worst-case values is unreadable.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principles structure this worldwide; Lab 07 trains the table-reading.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StarLink: unresolved allergenicity + feed-only approval + commingling = regulatory failure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debate over feeding-study sensitivity is itself teachable: what power do these designs actually have for what endpoints?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chain: difference → relevance → adverse? → exposure? → risk? - course interpretive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10 converts 'we are uncertain' into a measurement campaign - the practical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matrix is the regulatory-summary format for Module 16 - students produce one in Lab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09: placements cite evidence; cross-group divergence traces to anchors, not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Assessment and management are related but distinct - Lab 11 role-play enforces the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mapping table is the core of Module 18; students reproduce it for their capstone GMO.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Pink bollworm case: monitoring with triggers enabled eradication - monitoring as active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students: what would you sample for two years before a Bt chickpea release in Punjab? Indicators become concrete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poor vs good example pairs; students write their own for their capstone GMO.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 product/use trigger vs EU process trigger vs Canada novel trait - same science, different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students to current NBC notifications - rules and approval lists update periodically.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course's regulatory thesis - Lab 11 role-play tests whether students can hold the boundary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Outcomes genuinely differ - because traits, organisms, environments and management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three for the assessment/decision discussion; students defend positions from the evidence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datasets simulated and labeled; analysis_demo.py reproduces every documented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disciplines separate professional from amateur readings of identical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exercise with outsized professional value - most scientists can compute, few can convert computation into assessable prose.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maturity explicitly: model-to-data ratio rises with topic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level only - students should recognize the vocabulary and demand disclosure of priors.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12 template and rubric; conclusion must be falsifiable - what monitoring would change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3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4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4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GMO Environment and Risk Assessments</a:t>
            </a:r>
          </a:p>
          <a:p>
            <a:r>
              <a:rPr sz="1800">
                <a:solidFill>
                  <a:srgbClr val="BFDBFE"/>
                </a:solidFill>
              </a:rPr>
              <a:t>An evidence-based university course on the environmental risk assessment of genetically modified organisms</a:t>
            </a:r>
          </a:p>
          <a:p>
            <a:r>
              <a:rPr sz="1400" i="1">
                <a:solidFill>
                  <a:srgbClr val="FFFFFF"/>
                </a:solidFill>
              </a:rPr>
              <a:t>Evidence, not advocacy - for BS/MS molecular biology, biotechnology, environmental science, agriculture &amp; biosafety</a:t>
            </a:r>
          </a:p>
          <a:p>
            <a:r>
              <a:rPr sz="1400" b="1">
                <a:solidFill>
                  <a:srgbClr val="FFFFFF"/>
                </a:solidFill>
              </a:rPr>
              <a:t>Instructor: Dr. Saira Azam · Assistant Professor · Centre of Excellence in Molecular Biology · University of the Punjab, Lahore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 · Introduction</a:t>
            </a:r>
          </a:p>
          <a:p>
            <a:r>
              <a:rPr sz="1800">
                <a:solidFill>
                  <a:srgbClr val="BFDBFE"/>
                </a:solidFill>
              </a:rPr>
              <a:t>Modules 1-2 - why assess, and the hazard/risk distinction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Why assess GMO environmental risk?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Traits, organisms and receiving environments differ - no blanket judgments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Assessment quantifies: what could go wrong, how likely, how serious, how certain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Informs regulation - but is not itself the decision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Course motto: Trait + Organism + Environment + Exposure + Evidence +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Case-by-case is not a slogan - it is the epistemology of the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teaching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Foundations (M1-3): terminology, hazard vs risk, the framework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Characterization (M4-5): molecular and phenotypic/compositional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Ecological hazards (M6-10): gene flow, persistence, non-targets, soil, webs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Evolution &amp; fate (M11-13): resistance, herbicide systems, exposure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Food/feed &amp; uncertainty (M14-16); characterization &amp; management (M17-20)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Communication, regulation, cases, data, frontiers (M21-25)</a:t>
            </a:r>
          </a:p>
        </p:txBody>
      </p:sp>
      <p:pic>
        <p:nvPicPr>
          <p:cNvPr id="5" name="Picture 4" descr="20-course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315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Hazard vs risk - the distinction everything rests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Hazard: inherent potential to cause harm (agent-mechanism-endpoint)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Exposure: contact between hazard and receptor - magnitude x duration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Risk: hazard + exposure + dose-response + context (conceptual, not one formula)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Cobra behind thick glass: a hazard at near-zero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Hazard without exposure is not risk - the monarch case will prove this empirically.</a:t>
            </a:r>
          </a:p>
        </p:txBody>
      </p:sp>
      <p:pic>
        <p:nvPicPr>
          <p:cNvPr id="6" name="Picture 5" descr="01-hazard-vs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04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2 · Risk fundamentals</a:t>
            </a:r>
          </a:p>
          <a:p>
            <a:r>
              <a:rPr sz="1800">
                <a:solidFill>
                  <a:srgbClr val="BFDBFE"/>
                </a:solidFill>
              </a:rPr>
              <a:t>Framework stages and their inputs, outputs,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ERA framework - memorize the spine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Problem formulation → hazard identification → hazard characterization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→ exposure assessment → risk characterization → uncertainty analysis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→ risk management → monitoring → risk communication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Cartagena Annex III principles: case-by-case, science-based, step-wise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Problem formulation defines what 'relevant' means - everything downstream inherits it.</a:t>
            </a:r>
          </a:p>
        </p:txBody>
      </p:sp>
      <p:pic>
        <p:nvPicPr>
          <p:cNvPr id="6" name="Picture 5" descr="02-era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52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Define protection goals and assessment endpoints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Specify the receiving environment (species, climate, practices)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List plausible hazard pathways and analysis plan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Output: a scoping document that bounds the entire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Scope determines which evidence counts - set it before data collection.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Hazard identification vs characterization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Identification: agent-mechanism-endpoint statements, from construct biology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Characterization: dose-response, tiers, severity/survival parameters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Methods: forced-dose lab, semi-field, field - escalation criteria matter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 hazard statement must be falsifiable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If no data could refute it, it is advocacy - not a hazard statement.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Exposure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Pathway mapping: source → transfer → attenuation → receptor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Magnitude and duration at each step; biology vs management controls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Outputs: receptor doses with uncertainty intervals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Typical finding: orders-of-magnitude attenuation along the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Exposure is where most 'scary hazard' stories die - and where management intervenes.</a:t>
            </a:r>
          </a:p>
        </p:txBody>
      </p:sp>
      <p:pic>
        <p:nvPicPr>
          <p:cNvPr id="6" name="Picture 5" descr="05-exposure-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7970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Risk characterization &amp; uncertainty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Integrate hazard + exposure + dose-response + ecological context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Qualitative (matrix) and quantitative (Monte Carlo) modes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Uncertainty types: measurement, model, sampling, extrapolation, variability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Output: risk statement WITH intervals - never bare adjectives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'Safe' and 'unsafe' are not assessment outputs - characterized risk statements are.</a:t>
            </a:r>
          </a:p>
        </p:txBody>
      </p:sp>
      <p:pic>
        <p:nvPicPr>
          <p:cNvPr id="6" name="Picture 5" descr="12-monte-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291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Three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Assessment: characterize risk and uncertainty - science-led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Management: accept, mitigate, contain, monitor - policy-laden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Communication: exchange information with stakeholders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Conflating them corrupts all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Keep the jobs separate and each becomes defensible; merge them and all three become contestable.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Exposure has three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Magnitude: concentration at the receptor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Duration: how long contact persists (seasons? decades?)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Frequency: how often across the landscape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Different hazards are dominated by different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Name which dimension drives your hazard before choosing study designs.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Uncertainty is communicated, not hidden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Intervals over adjectives - quantify, then speak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Name the dominant driver and what would narrow the interval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Precaution is a policy response to uncertainty - not a substitute for data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False certainty is the most expensive communication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An honest 'unknown' with a measurement plan beats a confident guess every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3 · GMO characterization</a:t>
            </a:r>
          </a:p>
          <a:p>
            <a:r>
              <a:rPr sz="1800">
                <a:solidFill>
                  <a:srgbClr val="BFDBFE"/>
                </a:solidFill>
              </a:rPr>
              <a:t>Modules 4-5 - molecular and comparative biology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Molecular characterization for 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Construct and insert: copy number, site, integrity, stability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Expression profile: where, when, how much protein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Protein identity and mode of action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Genome-edited organisms: intended edit + potential off-targets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Molecular data turn 'a GMO' into a specific, assessable object.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Phenotypic and compositional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Near-isogenic comparator + commercial reference ranges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Proximates, key nutrients, anti-nutrients, toxicants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Intended differences separated from unintended flags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Equivalence margins pre-declared - TOST, not bare t-tests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Substantial equivalence is a starting framework, not a verdict - teach its limits.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Biology sets the gene-flow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Mating system: selfing (soybean) vs outcrossing (maize, OSR)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Pollen: size, viability window, vector (wind/insect)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Wild relatives: presence, compatibility, phenology overlap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OECD biology consensus documents: the standard baseline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Read the biology dossier first - the assessment inherits its facts.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Coexistence: crop-to-crop gene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Seed-purity thresholds drive isolation distances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Volunteers and seed banks extend the problem across seasons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Machinery hygiene and harvest sequencing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 management/coexistence question - not automatically ecological harm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Crop-to-crop flow is quantified and managed routinely - treat it as logistics, not catastrophe.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Gene flow in the local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Map compatible relatives before siting trials or releases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Local flowering calendars decide overlap windows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Sentinel plants quantify realized flow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Verify local wild-relative status from national biodiversity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Local ecology turns generic gene-flow theory into a specific, measurable exposure.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4 · Gene flow</a:t>
            </a:r>
          </a:p>
          <a:p>
            <a:r>
              <a:rPr sz="1800">
                <a:solidFill>
                  <a:srgbClr val="BFDBFE"/>
                </a:solidFill>
              </a:rPr>
              <a:t>Module 6 - the most quantified ecological hazard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Gene flow: routes and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Pollen (distance-decaying), seed (machinery, spillage), volunteers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Crop-to-crop = coexistence/seed-purity issue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Crop-to-wild = ecological issue - requires ALL introgression gates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Compatibility, overlap, hybrid fertility, backcross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Crop identity determines the route: oilseed rape vs soybean are different worlds.</a:t>
            </a:r>
          </a:p>
        </p:txBody>
      </p:sp>
      <p:pic>
        <p:nvPicPr>
          <p:cNvPr id="6" name="Picture 5" descr="04-introgression-path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7970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Quantifying gene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f(d) = a·exp(-b·d): edge frequency and decay constant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Threshold logic: d* = ln(a/threshold)/b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Buffer zones act on the steep segment - the tail never reaches zero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 point-estimate AND upper-confidence distances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'Acceptable frequency' is a management judgment informed by the curve - not a detection limit.</a:t>
            </a:r>
          </a:p>
        </p:txBody>
      </p:sp>
      <p:pic>
        <p:nvPicPr>
          <p:cNvPr id="6" name="Picture 5" descr="03-gene-flow-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17949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Managing gene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Isolation distances and border rows (dilution)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Flowering-time management (synchrony gates the whole pathway)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Machinery hygiene and harvest sequencing (seed route)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Monitoring sentinels where wild relatives persist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Every instrument maps to a specific pathway step - name the step.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5 · Persistence, weediness, invasiveness</a:t>
            </a:r>
          </a:p>
          <a:p>
            <a:r>
              <a:rPr sz="1800">
                <a:solidFill>
                  <a:srgbClr val="BFDBFE"/>
                </a:solidFill>
              </a:rPr>
              <a:t>Module 7 - demography of escaped traits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Three different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Persistence: population maintains itself (volunteers, seed bank)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Weediness: persistence + interference with agriculture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Invasiveness: spread into natural communities + ecological impact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 trait may affect one without the others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Evidence differs per concept: seed-bank data vs control-cost data vs community-spread data.</a:t>
            </a:r>
          </a:p>
        </p:txBody>
      </p:sp>
      <p:pic>
        <p:nvPicPr>
          <p:cNvPr id="6" name="Picture 5" descr="16-persistence-weediness-invas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530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Assessment workflow for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Trait characterization → phenotypic comparison vs conventional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Environmental conditions → reproductive fitness components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Persistence potential → ecological consequence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Conclude only at the level of evidence gathered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Fitness is measured in components (survival, fecundity, dormancy) - not asserted.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Volunteer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Seed shed at harvest → dormancy → multi-season emergence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Seed banks: oilseed rape volunteers persist for years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Management: stale seedbeds, rotations, selective chemistry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Trait-carrying volunteers narrow options - the practical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Volunteer risk is measured in seed-bank halves and control windows - both measurable.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Invasiveness: the highest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Requires spread BEYOND habitats of origin + ecological impact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Most GM crops lack the trait portfolio for wildland invasiveness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Domestication baggage: dependency on managed environments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Assess per trait: stress tolerance shifts 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Invasiveness is not the default assumption - it is a claim requiring its own evidence.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6 · Non-target organisms</a:t>
            </a:r>
          </a:p>
          <a:p>
            <a:r>
              <a:rPr sz="1800">
                <a:solidFill>
                  <a:srgbClr val="BFDBFE"/>
                </a:solidFill>
              </a:rPr>
              <a:t>Module 8 - tiered testing and the monarch lesson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Non-target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Groups: pollinators, predators, parasitoids, soil fauna, aquatic insects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Routes: direct (pollen/tissue), tritrophic (via prey), residue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Tiered testing: lab max-dose → semi-field → field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Escalation only on concern at REALISTIC exposure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escalation criterion - realistic exposure - is the entire logic of the pyramid.</a:t>
            </a:r>
          </a:p>
        </p:txBody>
      </p:sp>
      <p:pic>
        <p:nvPicPr>
          <p:cNvPr id="6" name="Picture 5" descr="06-tiered-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79704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monarch butterfly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1999: lab note - Bt pollen harms monarch larvae (hazard)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Multi-group response: pollen densities, per-event toxicity, phenology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Landscape exposure far below effect doses → negligible risk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Communication lesson: hazard headlines outrun exposure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hazard finding is the start of assessment, never its end.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Comparators decide non-target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Compare against the regime REPLACED (sprayed conventional)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Unsprayed isolines inflate apparent Bt harm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vs sprayed regimes usually favors Bt for natural enemies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Always state the comparator explicitly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No comparator, no conclusion.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Design pitfalls in non-target studies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Pseudoreplication: cages vs fields as the replicate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Dose without route: forced feeding vs natural exposure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Single life-stage testing - mismatch with field phenology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Power: many published studies cannot detect 20%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Study design, not toxin chemistry, explains most literature conflicts.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Pollinator assessment specifics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Adults: pollen/nectar route, foraging ranges, hive-level effects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Larvae: pollen-provisioned brood - a different window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Semi-field tunnel studies bridge lab and landscape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Colony-level endpoints beat single-bee mortality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Match life stage to exposure route - adult feeding tests cannot see brood effects.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7 · Soil, biodiversity, food webs</a:t>
            </a:r>
          </a:p>
          <a:p>
            <a:r>
              <a:rPr sz="1800">
                <a:solidFill>
                  <a:srgbClr val="BFDBFE"/>
                </a:solidFill>
              </a:rPr>
              <a:t>Modules 9-10 - community-level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Soil ecosystems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Exposure: exudates, residues, DNA/protein persistence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Methods: community profiling, functional assays, decomposition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Findings: generally small/transient - but study-dependent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Interpretation: difference → relevance → adverse?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Soil conclusions are the most over-claimed in both directions - discipline required.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Biodiversity and food webs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Direct vs indirect (trophic) effects; buffering and amplification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UK Farm-Scale Evaluations: herbicide REGIME, not trait alone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Different HT systems produced opposite community outcomes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Assess management systems - not traits in isolation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Trait-only thinking misses the actual exposure pathway: the regime.</a:t>
            </a:r>
          </a:p>
        </p:txBody>
      </p:sp>
      <p:pic>
        <p:nvPicPr>
          <p:cNvPr id="6" name="Picture 5" descr="10-food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041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Ecosystem services as assessment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Pollination, biological control, nutrient cycling, soil fertility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Services link community ecology to societal protection goals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Trait effects priced in service terms are policy-relevant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Endpoint choice declared in problem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Services convert 'biodiversity' from a slogan into measurable endpoints.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8 · Resistance evolution</a:t>
            </a:r>
          </a:p>
          <a:p>
            <a:r>
              <a:rPr sz="1800">
                <a:solidFill>
                  <a:srgbClr val="BFDBFE"/>
                </a:solidFill>
              </a:rPr>
              <a:t>Modules 11-12 - the dominant realized risk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Resistance genetics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Constant selection from season-long toxin expression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Rare-recessive dynamics: slow-then-explosive S-curve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High-dose/refuge: susceptible alleles dilute resistance when rare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Refuges must produce in-space/in-time susceptible mating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Refuges work only while resistance is RARE - which is why monitoring is load-bearing.</a:t>
            </a:r>
          </a:p>
        </p:txBody>
      </p:sp>
      <p:pic>
        <p:nvPicPr>
          <p:cNvPr id="6" name="Picture 5" descr="07-resistance-s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3090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Resistance management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Pyramids/stacks: multiple toxins, distinct receptors, no cross-resistance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Monitoring: diagnostic-dose bioassays, damage reports, F2 screens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Pre-agreed trigger thresholds → defined responses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Binding constraint is grower compliance, not laboratory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strategy's weakest link is behavioral - build instruments accordingly.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Herbicide-resistant weeds - the system-level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Selection comes from the herbicide REGIME, not the trait molecule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Repeated glyphosate selected resistant weed biotypes across the Americas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Responses: rotations, mixtures, integrated weed management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Trait-enabled practice → system-level consequence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Assess the agronomic system the trait enables - that is where selection lives.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Resistance monitoring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Diagnostic-dose bioassays: survivors above the discriminating dose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F2 screens detect rare alleles conventional bioassays miss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Unexpected-damage reports: the free early-warning system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Data feed pre-agreed triggers - not annual reports that nobody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Monitoring design determines whether resistance is managed or merely documented.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9 · Environmental fate &amp; exposure</a:t>
            </a:r>
          </a:p>
          <a:p>
            <a:r>
              <a:rPr sz="1800">
                <a:solidFill>
                  <a:srgbClr val="BFDBFE"/>
                </a:solidFill>
              </a:rPr>
              <a:t>Module 13 - what happens after release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Environmental fate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Release pathways: pollen, residue, exudates, debris, water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Degradation (half-lives), transport, persistence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Protein fate in soil; DNA persistence debates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Fate parameters feed exposure assessment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Fate + pathway + dose-response = the quantitative tripod of environmental risk.</a:t>
            </a:r>
          </a:p>
        </p:txBody>
      </p:sp>
      <p:pic>
        <p:nvPicPr>
          <p:cNvPr id="6" name="Picture 5" descr="11-dose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30927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Quantitative exposure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Chain: C_source x transfer factors x attenuation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Hazard quotient = receptor dose / effect threshold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HQ &lt;&lt; 1 under worst-case assumptions → pathway negligible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HQ near 1 → measure the dominant parameter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An HQ near 1 flags what to measure - not necessarily a risk.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Exposure scenarios: central vs conservative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Central estimate: best-estimate parameters - the likely case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Conservative: plausible-worst-case - the screening basis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Worst-case: physically possible - rarely informative alone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State which scenario every number belongs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Scenario discipline is communication discipline - label everything.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10 · Food &amp; feed safety</a:t>
            </a:r>
          </a:p>
          <a:p>
            <a:r>
              <a:rPr sz="1800">
                <a:solidFill>
                  <a:srgbClr val="BFDBFE"/>
                </a:solidFill>
              </a:rPr>
              <a:t>Modules 14-15 - composition, toxicity, allergenicity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Food/feed safety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Compositional comparison: analytes vs comparator + reference ranges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New protein: identity, mode of action, acute toxicity, digestibility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Feed performance: target-animal studies where warranted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Intended differences separated; unintended flags followed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Composition is one evidence line - necessary, never sufficient alone.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Allergenicity - weight of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Source-organism history; sequence homology to known allergens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Pepsin resistance/stability - one line among several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Glycosylation; serum screening where exposure history exists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NO single test establishes allergenic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Concordant lines support safety; any flag demands targeted follow-up.</a:t>
            </a:r>
          </a:p>
        </p:txBody>
      </p:sp>
      <p:pic>
        <p:nvPicPr>
          <p:cNvPr id="6" name="Picture 5" descr="18-allergenicity-w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79704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Toxicity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Hazard identification: mode of action first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Acute oral studies; margins of exposure vs realistic intake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Chronic considerations handled via composition + protein biology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 not invent toxicity values - cite and scope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MOE ratios &gt;&gt; 1 with stated uncertainty - that is the professional output.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Animal feeding studies - role and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Target-animal performance: feed-efficiency endpoint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90-day rodent studies: where warranted by molecular/compositional flags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Sensitivity limits acknowledged in the literature - interpret honestly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They complement - never replace - composition and protein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Feeding studies are one line of evidence with known limits - position them accordingly.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11 · Unintended effects &amp; uncertainty</a:t>
            </a:r>
          </a:p>
          <a:p>
            <a:r>
              <a:rPr sz="1800">
                <a:solidFill>
                  <a:srgbClr val="BFDBFE"/>
                </a:solidFill>
              </a:rPr>
              <a:t>Modules 16 - interpretation discipline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Unintended effects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Mechanisms: position effects, pleiotropy, insertional variation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Detection via molecular + phenotypic + compositional screening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Difference ≠ automatically harm - run the chain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Environmental interaction can reveal latent phenotypes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difference is where analysis starts - never where it ends.</a:t>
            </a:r>
          </a:p>
        </p:txBody>
      </p:sp>
      <p:pic>
        <p:nvPicPr>
          <p:cNvPr id="6" name="Picture 5" descr="17-difference-vs-h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187170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Uncertainty - taxonomy and treatment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Measurement, model, sampling, extrapolation, biological variability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Quantify: CIs, Monte Carlo, model comparison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Separate variability (design) from uncertainty (measurement)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Sensitivity ranking → what to measure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Uncertainty is quantified and carried - never hidden, never used as an excuse to stop deciding.</a:t>
            </a:r>
          </a:p>
        </p:txBody>
      </p:sp>
      <p:pic>
        <p:nvPicPr>
          <p:cNvPr id="6" name="Picture 5" descr="13-uncertainty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745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uncertainty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Rows: key parameters; columns: type, impact, trend, response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Impact = effect on the risk statement, not on the parameter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Trend: more data will narrow / will not narrow this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Response: measure better, manage conservatively, or accept and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An uncertainty matrix converts hedging into a decision table.</a:t>
            </a:r>
          </a:p>
        </p:txBody>
      </p:sp>
      <p:pic>
        <p:nvPicPr>
          <p:cNvPr id="6" name="Picture 5" descr="13-uncertainty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745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12 · Risk characterization &amp; management</a:t>
            </a:r>
          </a:p>
          <a:p>
            <a:r>
              <a:rPr sz="1800">
                <a:solidFill>
                  <a:srgbClr val="BFDBFE"/>
                </a:solidFill>
              </a:rPr>
              <a:t>Modules 17-18 - integration into decisions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Risk characterization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Integrate: hazard + exposure + dose-response + context + uncertainty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Qualitative: matrices with PRE-DECLARED anchors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Quantitative: distributions, exceedance probabilities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Statement format: estimate + interval + driver + response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matrix is presentation; the assessment is the reasoning behind each placement.</a:t>
            </a:r>
          </a:p>
        </p:txBody>
      </p:sp>
      <p:pic>
        <p:nvPicPr>
          <p:cNvPr id="6" name="Picture 5" descr="09-risk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431784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Risk management instruments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Avoidance/containment (exposure engineered away - GM salmon logic)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Mitigation: refuges, rotations, mixtures, buffer zones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Stewardship programs with compliance enforcement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 characterized risk needs an instrument and an 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top-ranked risk without an instrument is an unmanaged risk - say so in the report.</a:t>
            </a:r>
          </a:p>
        </p:txBody>
      </p:sp>
      <p:pic>
        <p:nvPicPr>
          <p:cNvPr id="6" name="Picture 5" descr="14-risk-management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041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Instruments matched to characterized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Resistance → refuges + monitoring triggers + stewardship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 flow → isolation, borders, timing, hygiene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Volunteers → rotation design, alternative chemistry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Unanticipated effects → PMEM with response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Match instrument to mechanism - generic conditions are compliance theater.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13 · Monitoring</a:t>
            </a:r>
          </a:p>
          <a:p>
            <a:r>
              <a:rPr sz="1800">
                <a:solidFill>
                  <a:srgbClr val="BFDBFE"/>
                </a:solidFill>
              </a:rPr>
              <a:t>Modules 19-20 - adaptive management in practice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Environmental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Baseline data pre-release - the non-negotiable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Indicators: resistance frequencies, gene-flow sentinels, non-targets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Pre-agreed trigger thresholds with named response owners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Adaptive management: monitor → evaluate → adjust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Monitoring without triggers is decoration; with triggers it is control.</a:t>
            </a:r>
          </a:p>
        </p:txBody>
      </p:sp>
      <p:pic>
        <p:nvPicPr>
          <p:cNvPr id="6" name="Picture 5" descr="08-monitoring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3041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Baselines: the non-negotiable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Pre-release reference data across representative sites and seasons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Power matched to the trigger thresholds agreed later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Without baselines, monitoring cannot attribute change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The weakest link of post-market systems worldwide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Monitoring design is decided BEFORE release - retrofitting baselines is impossible.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Post-market environmental monitoring (PMEM)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Case-specific monitoring: ERA-identified hazards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General surveillance: broad, unanticipated-effect watch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Reporting obligations; time-limited authorizations in some systems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Weak link worldwide: maintained long-term baselines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Detecting slow change needs decades of baselines - the honest global gap.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14 · Risk communication</a:t>
            </a:r>
          </a:p>
          <a:p>
            <a:r>
              <a:rPr sz="1800">
                <a:solidFill>
                  <a:srgbClr val="BFDBFE"/>
                </a:solidFill>
              </a:rPr>
              <a:t>Module 21 - the discipline of honest framing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Communicating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Hazard vs risk precision in every statement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Name comparators; give intervals; admit unknowns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Avoid sensationalism AND false reassurance - both are advocacy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Stakeholder input informs decisions - not hazard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Communication is part of assessment - treat it with the same rigor as the statistics.</a:t>
            </a:r>
          </a:p>
        </p:txBody>
      </p:sp>
      <p:pic>
        <p:nvPicPr>
          <p:cNvPr id="6" name="Picture 5" descr="19-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55309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Communicating probabilities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Natural frequencies beat percentages for lay audiences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Exceedance statements: 'threshold crossed in 5% of scenarios'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Visualize the distribution - not just a line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Test comprehension: communication that is not understood did not occur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 probability the audience cannot repeat back is not communicated.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15 · Regulatory frameworks</a:t>
            </a:r>
          </a:p>
          <a:p>
            <a:r>
              <a:rPr sz="1800">
                <a:solidFill>
                  <a:srgbClr val="BFDBFE"/>
                </a:solidFill>
              </a:rPr>
              <a:t>Module 22 - assessment vs decision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regulatory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6035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Cartagena Protocol: transboundary LMOs, AIA, Annex III principles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Codex: food-safety assessment principles; comparator; WoE allergenicity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OECD: biology consensus documents; familiarity concept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EFSA assesses; Commission and member states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Assessment characterizes - jurisdictions decide; the boundary is the profession's core discipline.</a:t>
            </a:r>
          </a:p>
        </p:txBody>
      </p:sp>
      <p:pic>
        <p:nvPicPr>
          <p:cNvPr id="6" name="Picture 5" descr="15-regulatory-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5013655" cy="279704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Pakistan's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PEPA 1997 + Pakistan Biosafety Rules 2005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NBC (approvals) · TAC (technical review) · IBCs (institutional oversight)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cotton approved; other cases case-by-case (verify current notifications)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Cartagena Party since 2009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National frameworks implement international principles - capacity and enforcement are the live questions.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assessment/decision boundary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Assessment outputs: hazard list, characterized risks, uncertainty flags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Decision inputs: those outputs + thresholds, values, alternatives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Same assessment, different decisions across jurisdictions - legitimately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Violations run both directions: assessors must not decide; regulators must not edit hazard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Guard the boundary: it is what makes both roles defensible.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16 · Case studies</a:t>
            </a:r>
          </a:p>
          <a:p>
            <a:r>
              <a:rPr sz="1800">
                <a:solidFill>
                  <a:srgbClr val="BFDBFE"/>
                </a:solidFill>
              </a:rPr>
              <a:t>Module 23 - fifteen documented trajectories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Case-study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cotton (resistance dominant) · Monarch (exposure decisive)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HT crops (system-level change) · OSR gene flow (low frequency ≠ no consequence)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StarLink (segregation failure) · Golden Rice (benefit ≠ safety argument)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Papaya (low exposure) · GMMs (reversibility) · Salmon (containment)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Fifteen cases, fifteen different risk profiles - the anti-lottery lesson.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Three cases that teach the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Monarch: hazard headline → exposure quantification → negligible risk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StarLink: feed-only approval failed on commingling - traceability is real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Bt brinjal: same evidence, different national decisions - science vs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Controversy often encodes value differences - identify them explicitly.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Three more cases that teach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UK FSE: measure the regime - community effects followed management, not molecules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Pink bollworm: monitoring with triggers enabled eradication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GM salmon: containment substituted for hazard characterization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Method lessons transfer to every future GMO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Cases are method teachers - each one upgrades a specific assessment skill.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17 · Quantitative analysis</a:t>
            </a:r>
          </a:p>
          <a:p>
            <a:r>
              <a:rPr sz="1800">
                <a:solidFill>
                  <a:srgbClr val="BFDBFE"/>
                </a:solidFill>
              </a:rPr>
              <a:t>Module 24 + Labs 03-10 - the working toolkit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ten-dataset toolkit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Gene-flow decay &amp; thresholds · Non-target survival (Wilson CIs)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Resistance recursion with refuges · Weed-resistance counts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Soil communities · Composition (TOST) · Exposure chains (HQ)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Dose-response (LC50, MOE) · Risk matrices · Monte Carlo +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Five certifiable skills: proportions, decay, recursion, dose-response, uncertainty propagation.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Reading numbers like an assessor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Effect size + interval + comparator - never a bare p-value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'Not detected' ≠ 'absent' - state detection limits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Multiplicity: 1-in-20 analytes differ by chance at α=0.05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Sensitivity analysis converts uncertainty into measurement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Precision comes from design and n - not from decimal places.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From data to dossier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Statistics → characterization sentence → uncertainty flag → instrument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 table feeds a paragraph; every paragraph feeds a decision element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Orphan numbers (no interpretation) are defects, not depth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Practice: convert Lab 03 output into dossier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 deliverable is not the analysis - it is the characterized, actionable sentence.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18 · Advanced topics</a:t>
            </a:r>
          </a:p>
          <a:p>
            <a:r>
              <a:rPr sz="1800">
                <a:solidFill>
                  <a:srgbClr val="BFDBFE"/>
                </a:solidFill>
              </a:rPr>
              <a:t>Module 25 - research frontiers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Frontier topics and their maturity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Population genetics &amp; landscape gene-flow modeling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Bayesian/probabilistic ERA; multi-criteria decision analysis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Stacked traits; gene-edited organisms (NGTs)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Synthetic biology releases; gene drives (conceptual - no releases approved)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Gene drives break introgression-rate assumptions - reversibility becomes the controlling question.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Probabilistic and Bayesian 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Monte Carlo propagation: risk distributions, not points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Bayesian hierarchical models: pooling sparse field data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Expert elicitation: formalized, disclosed, sensitivity-tested priors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Separate variability from uncertainty in every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Bayesian methods quantify uncertainty - they do not eliminate it; priors must be disclosed.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Climate interactions and long-term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Shifting pest ranges change selection landscapes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Flowering-time shifts alter gene-flow windows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Drought modifies trait expression and exposure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Treat as scenario inputs - not computable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Frontier topics demand uncertainty disclosure as a professional ethic.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19 · Review &amp; assessment</a:t>
            </a:r>
          </a:p>
          <a:p>
            <a:r>
              <a:rPr sz="1800">
                <a:solidFill>
                  <a:srgbClr val="BFDBFE"/>
                </a:solidFill>
              </a:rPr>
              <a:t>Capstone and exam preparation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The capstone ERA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Choose a real GMO + specified receiving environment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Full workflow: problem formulation → characterization → management → monitoring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≥4 quantitative elements from the course toolkit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Defense: 15-minute presentation + viva from the question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There is no single correct conclusion - there are correct disciplines.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Exam-critical distinctions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Hazard ≠ risk · assessment ≠ decision · difference ≠ harm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'Not detected' ≠ 'absent' · approved ≠ zero risk · banned ≠ proven harmful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Comparator choice changes conclusions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Every risk statement: evidence + uncertainty + instrument + trigger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If you can defend these four lines with cases, you have learned the course.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D4ED8"/>
                </a:solidFill>
              </a:rPr>
              <a:t>Assessment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24128"/>
            <a:ext cx="2011680" cy="38100"/>
          </a:xfrm>
          <a:prstGeom prst="rect">
            <a:avLst/>
          </a:prstGeom>
          <a:solidFill>
            <a:srgbClr val="B4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47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60 MCQs (Bloom's-graded) · 30 short · 20 long · 40 viva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15 case-based · 15 data-interpretation questions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Instructor answer key with rubrics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F172A"/>
                </a:solidFill>
              </a:rPr>
              <a:t>• 67 FAQs + 4-page cheat sheet for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99632"/>
            <a:ext cx="11185855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D4ED8"/>
                </a:solidFill>
              </a:rPr>
              <a:t>Key takeaway: Assessment mirrors the course: structured reasoning, not recall alone.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Trait + Organism + Environment + Exposure + Evidence + Uncertainty</a:t>
            </a:r>
          </a:p>
          <a:p>
            <a:r>
              <a:rPr sz="1600" i="1">
                <a:solidFill>
                  <a:srgbClr val="BFDBFE"/>
                </a:solidFill>
              </a:rPr>
              <a:t>The course motto - evaluate every GMO as its own case; advocate nothing, hide nothing.</a:t>
            </a:r>
          </a:p>
          <a:p>
            <a:r>
              <a:rPr sz="1400" b="1">
                <a:solidFill>
                  <a:srgbClr val="FFFFFF"/>
                </a:solidFill>
              </a:rPr>
              <a:t>Dr. Saira Azam · CEMB · University of the Punjab, Lahore -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