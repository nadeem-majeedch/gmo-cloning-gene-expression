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precision of intent: the change is designed before the experiment. The 1973 Cohen–Boyer experiment is the canonical demonstration of cut → join → propagate → select.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routinely conflate these. Give the Bt-corn and base-edited crop examples: same scientific descriptors, different regulatory labels in different jurisdictions.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basic research dominates the volume of genetic engineering; products are the visible minority.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 is: inheritance becomes chemistry, chemistry becomes cuttable, cuttable DNA becomes clonable.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revolutions to keep separate: rDNA (1970s–90s, ADD DNA anywhere) vs genome editing (2010s–, CHANGE DNA at a chosen address).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map: ori, marker, MCS, promoter cassette. Ask students what breaks when each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High-copy for yield; low-copy for burden-sensitive inserts. Ask: which component would you change to reduce toxicity of expression?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details purpose/inputs/outputs/errors/validation for each stage — this slide is the map of the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BACs matter for loci with full regulatory context (Hox, atonal-class clusters). YACs enabled megabase-scale genomics but are chimerism-prone.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funnel is the point: each stage removes a different class of wrong answer. A colony count is not a correct-clone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Lab-04 anomaly as a teaching hook: screening readouts are probabilistic evidence, not verdicts.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tip to repeat: a map without orientation arrows is ambiguous; always state orientation relative to the promoter.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Lab-03/Lab-04 storyline: high colony counts with 85% empty clones (condition L3) make the point vividly.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Methylation sensitivity can block sites in common lab E. coli DNA — a real design consideration.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when blunt is the ONLY option: no convenient sites and non-PCR input (e.g., sheared/adaptor fragments).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overlap IS the addressing scheme — jigsaw edges. Repeats confuse the jigsaw.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Domestication: internal Type IIS sites must be removed or silently mutated. Note temperature-cycling for BsaI-class enzymes.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level only; vendor systems evolve — consult current documentation before lab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Lab-01 scenario live: internal BamHI forces EcoRI+HindIII.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CDS + different regulatory parts = different experiments entirely. This is the lever students most often under-use.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Swap-the-promoter thought experiment: same GFP, four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Fluorescence = spatial detail; luminescence = quantitation. Choose by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Reporter reports the SEQUENCE's behavior — chromatin context can be missing. Always pair with endogenous validation (ISH/IF) for strong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slide: cloning technology (Module 2–4) becomes developmental observation (Module 8–9).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reproduce this table from memory — it is the Module-4 anchor. Each row: mechanism → strength → limitation →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live with the design_check.py script on the simulated insert — students see the internal-site scan that forces the enzyme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aggregation case: a mispositioned tag can bury a signal peptide or block an active site — three design causes, three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positive control is the diagnostic: if it fails, the cells/buffer are the problem, not your ligation.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CMV-driven expression of a gene that is normally tissue-restricted answers a different question than the endogenous promoter — make students articulate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Case: a protein whose mRNA is everywhere but protein is nuclear-only — the two reporter designs tell different true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with the five example classes; ask students to classify Golden Rice, an apoE knockout mouse, and a plasmid-transfected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host choice: insulin is non-glycosylated — E. coli/yeast fine; glycoproteins need CHO-class hosts.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Totipotency: one modified somatic cell regenerates a whole plant — conceptually simpler than embryo-by-embryo animal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Statuses change — mechanisms are stable, regulations are not. Flag re-verification for any commercial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operational animal parameters in this course — species/jurisdiction-specific, under animal-care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PAM is required for initiation — that's why it constrains targetable space and contributes to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 et al. 2017 MYBPC3 embryo work and its follow-up literature illustrate why repair-mechanism context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Editors trade HDR-dependence for window/bystander/efficiency constraints — honest comparison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which approach for (a) a loss-of-function allele, (b) a lineage reporter with full enhancer context?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Genotyping depth and tissue choice are where editing projects quietly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RNP delivery reduces off-target exposure because the nuclease degrades quickly — a design lever students should connect to the mosaicism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 moved CRISPR from 'one gene at a time' to systematic discovery — connect to Module 10's network-inference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 zebrafish phenotyping is powerful but mosaic — confirm with stable lines for publication-grade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myoD caveat matters: 'master' describes the experimental result, not the whole in-vivo mechanism (Pax3/7 + signaling + chromatin).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Turing 1952; Wolpert 1969. Duration of exposure matters as much as concentration in the neural tube.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Pathway outputs converge on cis-regulatory elements — a cell's combination of active pathways is its positional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organism to question: lineage precision vs live vertebrate imaging vs mammalian relevance vs plant cell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Enhancer deletions shift domain boundaries — link to Module 10 CRM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1980 saturation screen found zygotic genes — maternal ones needed separate genetics. Ask why (embryo lethality of mothers).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why do domains sharpen beyond the gradient shape? Cross-repression (Module 10 motifs).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zebrafish example: bulk RNA-seq says 'gene X peaks at 24 hpf'; ISH says 'in the notochord from 10-somite stage'. Different claims, different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Zebrafish somitogenesis is the cleanest two-axis example: her1/7 oscillations (time) freeze at the determination front (space) — clock-and-wavefront.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case pairs one spatial mechanism with one temporal mechanism — have students name both axes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matrix from Module 9 §4 — students should reproduce it from memory in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heatmap is the simulated developmental timecourse from DATA/ — the single most transferable visualization in developmental transcriptomics.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gradient pairs a source and a sink/mechanism — synthesis and degradation enzymes shape RA, not simple diffusion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 stripe 2: multiple activator/repressor sites in one CRM integrate maternal and gap-gene inputs — connect to Module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apply this checklist to their capstone designs — it is the grading rubric for Lab-09.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Probe design must mask repeats; low-abundance targets need amplification-based approaches (RNAscope-class).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Statistics on ΔCt, not fold change. For RNA-seq: n≥3 biological, balanced batches, negative-binomial modeling in research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Spatial context is severed at dissociation — the motivation for spatial methods. Cell-type discovery is the superpower; coordinates are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Nature Methods 'Method of the Year 2020'. Trade-off: plex vs resolution vs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Absolute quantitation is the superpower: burst-size and frequency inference comes from these distributions (Module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Knockout-tissue control is the gold standard for antibody specificity — much stronger than vendor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Module-11 decision guide verbatim — students reproduce this in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the Lab-02 examples: A correct, B empty, C rearranged (2.3+1.7+0.9 = 4.9 kb ≠ 3.2 kb).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Lab-05 numbers: myod1 18 hpf ≈ 7.5× vs 10 hpf — then validate spatially (ISH).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Mini-workflow on the simulated 500×6 dataset; research practice = DESeq2/edgeR-class negative-binomial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Lab-08 dataset: 600 cells → 3 clean clusters + a k=4 transition subcluster. Absence (dropout) is not evidence of 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every spatial finding with its independent check: ISH for the gradient gene, reporter or perturbation for the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PCA-first rule: if batch explains the data, no downstream gene list is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on the simulated 500×6 dataset: 18 genes pass FDR&lt;0.05 &amp; |log2FC|&gt;1, including a coherent 5-gene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three: mechanism is settled; deployment is agronomy + regulation + acceptance. Keep the Module-14 layering when discussing.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SOD1 as the model-limit discussion: why some trial successes in mice failed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case is a cloning + expression + data-analysis story — the course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Bt (toxin-based) and Golden Rice (metabolic) — three different mechanism classes in agriculture.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which claims REQUIRE spatial validation? (anything about WHERE cells are or how they contact each other.)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Conclusions at one layer are not evidence at another. Labeling debates are ethics/policy, not food-safety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Reinforce: students never self-assign biosafety levels. Approved SOPs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evidence-first: what happened, what frameworks now say, what remains contested.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claims product- and trait-specific: 'gene flow happens' is a mechanism, not a risk magnitude — exposure and consequence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truths held together: reassuring assessments for products evaluated through major systems, AND real documented issues (resistance, IP concentration).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Bivalency is the developmental punchline: stem cells hold lineage genes ready for either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CRISPRi of a candidate enhancer + PRO-seq nascent readout = clean student-level entry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Module 8's GRN motifs to engineering the same motifs.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map each tool to necessity vs sufficiency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myogenic network example: every edge (Pax3/7 → Myf5/Myod → myogenin) was established by perturbation, not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Velocity assumptions (stationary splicing kinetics) can break in developmental samples — state them when interpreting.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feedback motifs (Module 10): negative feedback suppresses noise, positive feedback amplifies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as an oral review: students supply the example for each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twelve traps map to the cheat sheet's 'common exam mistakes'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instructors to BUILD_REPORT.md for counts and to the Answer Key for distribution of cognitive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6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6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7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GMOs, Cloning Techniques &amp; Developmental and Spatial Gene Expression</a:t>
            </a:r>
          </a:p>
          <a:p>
            <a:r>
              <a:rPr sz="1800">
                <a:solidFill>
                  <a:srgbClr val="BFDBFE"/>
                </a:solidFill>
              </a:rPr>
              <a:t>A university teaching module for BS/MS molecular biology, biotechnology, genetics &amp; bioinformatics</a:t>
            </a:r>
          </a:p>
          <a:p>
            <a:r>
              <a:rPr sz="1400" i="1">
                <a:solidFill>
                  <a:srgbClr val="FFFFFF"/>
                </a:solidFill>
              </a:rPr>
              <a:t>Theory → Mechanism → Workflow → Data → Lab → Case studies → Assessment</a:t>
            </a:r>
          </a:p>
          <a:p>
            <a:r>
              <a:rPr sz="1400" b="1">
                <a:solidFill>
                  <a:srgbClr val="FFFFFF"/>
                </a:solidFill>
              </a:rPr>
              <a:t>Instructor: Dr. Saira Azam · Assistant Professor · Centre of Excellence in Molecular Biology · University of the Punjab,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 · Introduction to Genetic Engineering</a:t>
            </a:r>
          </a:p>
          <a:p>
            <a:r>
              <a:rPr sz="1800">
                <a:solidFill>
                  <a:srgbClr val="BFDBFE"/>
                </a:solidFill>
              </a:rPr>
              <a:t>From classical genetics to spatial genomics (Module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What is genetic engineering?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Direct, deliberate modification of genetic material using laboratory techniques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Recombinant DNA technology: join DNA from &gt;1 source → propagate in a host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Molecular cloning = building the blueprint; expression engineering = making it work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Sits inside biotechnology, alongside classical uses and analytical 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Genetic engineering = designed molecular change + a way to propagate or deliver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vocabulary — use it precisely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GMO — umbrella term; the definition is REGULATORY and varies by country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Transgenic — foreign (cross-species) DNA · Cisgenic — same-species DNA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Gene-edited — change made by a targeted editor; may add no foreign DNA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Stable (inherited) vs transient (fades over hours–days)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reagent can be transient while the consequence (edit) is 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Scientific descriptors are unambiguous; regulatory labels are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Why modify organisms?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Research: assign function, build models, visualize biology (most GM work worldwide)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Medicine: recombinant insulin (1982 — first rDNA drug), gene/cell therapy, mRNA vaccines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Agriculture: Bt crops, virus-resistant papaya, Golden Rice, gene-edited crops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Industry: enzymes, bio-based materials, engineered biosensors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Every engineered organism answers a question — research, product, or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Historical milestones I —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1865–1900s: Mendel → chromosome theory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1928–1944: Griffith's transforming principle → Avery: DNA is the genetic material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1953: double helix (Watson, Crick, Franklin, Wilkins)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1968–70: restriction enzymes (Arber, Smith, Nathans; EcoRI purification) — Nobel 1978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1972–73: Berg's first in-vitro rDNA; Cohen–Boyer functional recombinant plasmids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Each era supplied the tool the next era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Historical milestones II — the modern 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1975: Asilomar — scientists self-regulate; origin of biosafety frameworks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1977–82: Sanger sequencing; recombinant insulin approved (Humulin, 1982)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1981–83: transgenic mice; Agrobacterium plant transformation; PCR (Mullis)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1994: GFP as a genetically encoded reporter (Chalfie) — Nobel 2008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2012–13: CRISPR–Cas9 editing (Jinek; Cong/Mali/Zhang) — Nobel 2020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2009–2026: single-cell then spatial transcriptomics — expression read in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Read → copy → add → edit → watch: each capability built on the last.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2 · Molecular Cloning Fundamentals</a:t>
            </a:r>
          </a:p>
          <a:p>
            <a:r>
              <a:rPr sz="1800">
                <a:solidFill>
                  <a:srgbClr val="BFDBFE"/>
                </a:solidFill>
              </a:rPr>
              <a:t>Parts, plasmids and the eleven-stage workflow (Modules 2–3)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Anatomy of a cloning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Insert — the DNA you want · Vector — the vehicle · Backbone — vector minus insert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Every vector component has a job; every job can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vector is not 'a circle with a hole' — it is a machine with parts.</a:t>
            </a:r>
          </a:p>
        </p:txBody>
      </p:sp>
      <p:pic>
        <p:nvPicPr>
          <p:cNvPr id="6" name="Picture 5" descr="plasmi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4503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Vector components and failure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ori → copy number (high pUC-class ~500; low pSC101 ~5; BAC single-copy)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Selectable marker → without it you cannot recover transformants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MCS / assembly architecture → where DNA enters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Promoter + RBS/Kozak + terminator → expression or silence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Reporter / tags → visibility and purification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Design-stage attention to each component saves weeks at the bench.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eleven-stage cloning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Identify target → design construct → obtain/amplify DNA → prepare vector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Assemble insert+vector → introduce into host → select → screen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Validate (digest) → sequence-confirm → USE the construct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Design decisions cascade; sequencing is the last gate before use.</a:t>
            </a:r>
          </a:p>
        </p:txBody>
      </p:sp>
      <p:pic>
        <p:nvPicPr>
          <p:cNvPr id="6" name="Picture 5" descr="clon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929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Copy number, capacity, host range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High copy: more DNA per prep; more burden on unstable/toxic inserts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Low copy: gentler, better for large or unstable DNA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Plasmids 1–15 kb · BACs 100–300 kb (F-factor, single-copy, stable) · YACs up to ~1 Mb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Shuttle vectors: two origins + two markers → build in E. coli, use elsewhere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Match capacity to the question: cassette vs locus vs genome region.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Selection vs screening vs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SELECTION: undesired cells cannot grow (antibiotic, auxotrophy) — population level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SCREENING: per-candidate test (blue-white, colony PCR, digest) — clone level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VALIDATION: definitive proof (Sanger; then function) — molecule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Selection enriches populations; screening classifies individuals; validation proves identity.</a:t>
            </a:r>
          </a:p>
        </p:txBody>
      </p:sp>
      <p:pic>
        <p:nvPicPr>
          <p:cNvPr id="6" name="Picture 5" descr="selection_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1111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Blue-white screening — mechanism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Host strain carries lacZ α-deletion; vector supplies lacZα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Empty vector → functional β-galactosidase → BLUE colonies on X-gal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Insert disrupting lacZα → WHITE colonies — candidates, not proof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Anomalies exist: PCR-positive blue colonies happen (lacZα-sparing insertions)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Screening shortlists; validation settles.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Reading a plasmid map — the 7-point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ori and copy-number class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Selectable marker(s) — and whether bacterial vs mammalian parts differ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MCS / assembly-scar architecture — which sites are unique?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Promoter(s) and DIRECTION (arrow)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Insert position and orientation — explicitly stated?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Total size — expected band on a digest gel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Priming sites — where can sequencing primers bind?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Map-reading is a skill with a checklist — practice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Why every validation stage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Selection alone: 500 colonies could ALL be empty vector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Screening alone: PCR can't see point mutations or rearrangements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Digest alone: uninformative if enzyme choice is poor (single band)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Sequencing alone (without function): sequence-correct ≠ expressing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chain: selection → screen → digest → Sanger → functional assay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Each stage removes a different class of wrong answer — skip one and it survives.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3 · Cloning Techniques</a:t>
            </a:r>
          </a:p>
          <a:p>
            <a:r>
              <a:rPr sz="1800">
                <a:solidFill>
                  <a:srgbClr val="BFDBFE"/>
                </a:solidFill>
              </a:rPr>
              <a:t>Restriction · TA · blunt · Gibson · Golden Gate · Gateway (Module 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Restriction enzyme cloning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Recognition sites 4–8 bp, usually palindromic: EcoRI G^AATTC, HindIII A^AGCTT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Sticky (5′/3′ overhangs) vs blunt ends; compatible ends (BamHI/BglII → GATC)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Directional cloning: two different enzymes force one orientation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Dephosphorylate vector → blocks self-ligation; insert restores phosphates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Insert:vector molar ratio ~3:1 as a starting point (kinetics, not law)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Cut → anneal → ligate: simple, cheap, background-prone.</a:t>
            </a:r>
          </a:p>
        </p:txBody>
      </p:sp>
      <p:pic>
        <p:nvPicPr>
          <p:cNvPr id="6" name="Picture 5" descr="restriction_cl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2476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TA cloning and blunt-end cloning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TA: Taq adds 3′-A overhangs; T-vector carries 3′-T — fast PCR-product capture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TA limits: no orientation control; high-fidelity polymerases give blunt ends (A-tail first)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Blunt: universal — any flush fragment ligates to any other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Blunt limits: low efficiency, no directionality → dephosphorylation essentially mandatory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Convenience vs control: TA is fast, blunt is universal, neither is directional.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Gibson Assembly — overlaps do the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Fragments carry 20–40 bp terminal overlaps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5′ exonuclease chews back → overlaps anneal → polymerase fills → ligase seals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Seamless; multi-fragment; no restriction sites needed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Limits: repeat-driven misassembly; overlap design burden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Design-level addressing: sequence, not restriction sites, defines the product.</a:t>
            </a:r>
          </a:p>
        </p:txBody>
      </p:sp>
      <p:pic>
        <p:nvPicPr>
          <p:cNvPr id="6" name="Picture 5" descr="gibson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06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Golden Gate — programmable overhangs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Type IIS enzymes (BsaI, BsmBI, SapI…) cut OUTSIDE the recognition site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4-bp overhang bases are designer-chosen → each junction has an address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One-pot digest+ligation; correct products consumed their recognition sites → self-selecting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Basis of modular cloning hierarchies (MoClo-style level-0 parts → units → multigene)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Scars are 4 bp; efficiency and modularity are unmatched.</a:t>
            </a:r>
          </a:p>
        </p:txBody>
      </p:sp>
      <p:pic>
        <p:nvPicPr>
          <p:cNvPr id="6" name="Picture 5" descr="golden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06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Gateway — recombination-based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attB/P → attL (entry clone) via BP; attL/R → attB (expression clone) via LR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One sequence-verified entry clone feeds many destination vectors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Strength: parallel expression testing across backbones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Limits: att scars; proprietary mixes; counter-selection background (ccdB-type)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Archive once, deploy everywhere — at the cost of fixed recombination scars.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Choosing a technique — decision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Multi-fragment, seamless? → Gibson (≤ ~6–8) or Golden Gate (many, modular)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Single insert with good unique sites? → restriction–ligation (directional)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Quick PCR capture? → TA. No sites at all? → blunt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One gene → many backbones in parallel? →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technique choice is a design decision, not a habit.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4 · Expression Constructs &amp; Reporters</a:t>
            </a:r>
          </a:p>
          <a:p>
            <a:r>
              <a:rPr sz="1800">
                <a:solidFill>
                  <a:srgbClr val="BFDBFE"/>
                </a:solidFill>
              </a:rPr>
              <a:t>Regulatory parts and measurable outputs (Module 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Anatomy of an expression cassette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Promoter → 5′ UTR / RBS (Shine–Dalgarno) or Kozak context → CDS ± tag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3′ UTR → terminator (bacteria) or polyadenylation signal (eukaryotes)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Enhancers/silencers: distal, orientation-flexible modulators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Operators (prokaryotes): repressor/activator binding → inducibility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cassette, not just the gene, encodes the experiment.</a:t>
            </a:r>
          </a:p>
        </p:txBody>
      </p:sp>
      <p:pic>
        <p:nvPicPr>
          <p:cNvPr id="6" name="Picture 5" descr="expression_cas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5564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Expression modes — four dials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Constitutive: always on — production, housekeeping studies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Inducible: signal-gated (lac/IPTG, Tet/doxycycline, Gal4-ER) — toxicity, timing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Tissue-specific: spatial restriction — reporters, cell-type biology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Developmentally regulated: staged activation — patterning studies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Changing one regulatory element changes the question the construct answers.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Reporter genes — the cast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GFP: autocatalytic chromophore, needs only O2 → live spatial imaging (Nobel 2008)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RFP/mCherry: red shift → tissue penetration + dual-color with GFP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lacZ: X-gal histochemistry — vivid fixed-tissue maps, enzyme-amplified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Luciferase: luciferin+ATP → photons; quantitative dynamic range; dual-luciferase normalization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Reporters convert invisible regulatory states into measurable signals.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Reporter design patterns and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Promoter-reporter: 'where is this promoter active?'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Enhancer-reporter: minimal promoter + candidate enhancer (test both orientations)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Fusion reporter: where does the PROTEIN go? (frame, linker, termini matter)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Controls: promoterless + empty vectors, motif mutant, known-active promoter, normalization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reporter is sufficiency evidence — not an endogenous-expression verdict.</a:t>
            </a:r>
          </a:p>
        </p:txBody>
      </p:sp>
      <p:pic>
        <p:nvPicPr>
          <p:cNvPr id="6" name="Picture 5" descr="reporter_constr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3240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Landmark: GFP goes live (1994)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Chalfie et al. expressed GFP in C. elegans touch neurons and E. coli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No substrate, no cofactors beyond O2 → genetically encoded fluorescence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Tsien-engineered variants: brightness, folding, color palette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Consequence: live developmental imaging became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One jellyfish protein joined genetic engineering to developmental biology.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Cloning techniques — the comparison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Restriction–ligation: cheap, directional possible; needs unique sites; self-ligation background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TA: fast PCR capture; no orientation; A-tailing needed for high-fidelity products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Blunt: universal; low efficiency; heavy background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Gibson: seamless, multi-fragment; overlap design; repeat misassembly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Golden Gate: one-pot, modular, multiplex; domestication of internal sites; 4-bp scars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Gateway: one entry → many destinations; att scars; counter-selection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No universal technique: the constraint set picks the method.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Worked design — the Lab-01 construct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Goal: 850-bp zebrafish shha promoter → GFP in a 3.2-kb vector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Scan insert: internal BamHI site → BamHI pair ELIMINATED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Choice: EcoRI + HindIII (unique in vector, absent in insert, directional)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Primers: 5′ clamp + site + gene-specific sequence (frame/termini checked)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Ligation: 50 ng vector at 3:1 → ~31.5 ng insert (molar math)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Diagnostic digest: EcoRI+BamHI → 1.9 + 2.15 kb (empty vector: 3.2 kb single)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Screening: white colonies → colony PCR (Set A + B) → mini-prep → Sanger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Design is decision-making under constraints — document every choice.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Fusion proteins — in-frame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Insert must join the tag without frameshift → single continuous ORF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Linkers (Gly-Ser repeats) preserve independent folding of both parts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N-terminal fusions: tag's start codon dominates; C-terminal: no premature stop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Fusions can perturb localization/function — always validate against endogenous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Common tags: His6 (purification), FLAG/HA (detection), GFP (imaging), GST (solubility)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fusion is a new protein — verify it still behaves.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Transformation and selection — the plating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Chemical transformation (heat shock) or electroporation — per institutional SOP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Positive control (known plasmid) and negative control (no DNA) are mandatory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Selection marker must match the vector — check concentration classes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Colony number ≠ correct-clone number; controls calibrate the background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Electroporation: salt in DNA prep → arcing → dead 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Controls turn colony counts into interpretable data.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Promoter selection — matching promoter to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Prokaryotic: T7-class (expression strains), lac/tac/trc (tunable), constitutive housekeeping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Mammalian: CMV (strong, broad), EF1α (stable), PGK/UbC (moderate) — silencing varies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Plant: 35S (constitutive), ubiquitin-class, tissue/development-specific promoters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Developmental: endogenous/tissue-specific promoters for spatial questions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Inducible systems: Tet-On/Off, Gal4-ER, heat-shock — temporal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promoter is the experimental design, encoded in DNA.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Reporter fusions vs promoter reporters — choosing the readout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Promoter-reporter: regulatory ELEMENT activity (transcriptional readout)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Fusion reporter: protein localization/dynamics (post-transcriptional readout)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They can disagree — post-transcriptional regulation is real biology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Destabilized reporters (degron-tagged GFP): read CURRENT expression, not history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For quantitation over time: luciferase wins; for spatial detail: fluorescence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Match the reporter's biological level (RNA vs protein) to the question.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5 · GMO Generation</a:t>
            </a:r>
          </a:p>
          <a:p>
            <a:r>
              <a:rPr sz="1800">
                <a:solidFill>
                  <a:srgbClr val="BFDBFE"/>
                </a:solidFill>
              </a:rPr>
              <a:t>Bacteria, plants, animals — shared spine, different biology (Module 6)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What makes an organism 'modified'?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Laboratory-altered genetic material in a defined, designed way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Transgenic / cisgenic / gene-edited / knockout / knock-in / reporter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Stable = inherited (integration, maintained plasmid) vs transient = fading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 embryos: reagents transient, edits stable — the distinction that confuses 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Category determines interpretation — and often regulation.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Bacteria — the fast 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Construct → transformation/electroporation → selection → screen → validate → phenotype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Landmark: recombinant insulin (Humulin, 1982 — first rDNA drug)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Industrial enzymes (amylases, chymosin); engineered metabolism (artemisinic acid)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Colony = organism: days, not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Microbes trade complexity for speed.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Plants — totipotency does the heavy lifting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Agrobacterium: natural T-DNA transfer (Ti plasmid, border repeats, vir genes)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Disarmed systems + binary vectors: cassette between borders; vir in trans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Biolistics: DNA-coated particles — for recalcitrant species, chloroplast targets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Tissue culture → regeneration → selection → molecular confirmation → field trials under permit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plant regenerates itself; engineering is delivery + selection.</a:t>
            </a:r>
          </a:p>
        </p:txBody>
      </p:sp>
      <p:pic>
        <p:nvPicPr>
          <p:cNvPr id="6" name="Picture 5" descr="gmo_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6663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Landmark crops — history to present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Bt cotton/corn (1996→): Cry proteins; resistance managed by refuges/pyramids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Herbicide-tolerant soybean/corn: CP4 EPSPS; weed-resistance drove trait evolution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PRSV-resistant 'Rainbow' papaya: saved the Hawaiian industry (public sector)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Golden Rice: psy+crtI → provitamin A; GR2E food-safety approvals (2021→, verify current status)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Gene-edited crops: waxy corn, MLO-edited wheat, non-browning mushroom — status varies by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Traits succeed or fail as agronomy + policy, not just molecular biology.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Animals — embryo routes and founder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Pronuclear microinjection (classic transgenesis, 1981–82 'supermouse')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ES-cell knockouts (Capecchi/Smithies/Evans, Nobel 2007) — targeted mammalian genetics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SCNT: Dolly (1996/97) — cloning ≠ transgenesis; reprogramming in vivo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CRISPR era: cytoplasmic editing reagents → F0 screening (species-dependent)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Founder identification → germline transmission → breeding → phenotyping under animal-care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Mosaic founders and slow breeding shape every animal-engineering design.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6 · Genome Editing &amp; CRISPR</a:t>
            </a:r>
          </a:p>
          <a:p>
            <a:r>
              <a:rPr sz="1800">
                <a:solidFill>
                  <a:srgbClr val="BFDBFE"/>
                </a:solidFill>
              </a:rPr>
              <a:t>Programmable changes at chosen addresses (Module 7)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CRISPR–Cas9 in one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Bacterial adaptive immunity → laboratory programmability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sgRNA (~20-nt guide) + Cas9 + PAM (SpCas9: NGG)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Guide-target pairing → R-loop → HNH/RuvC cleavage → blunt DSB ~3 bp from PAM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cell's repair choice writes the edit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CRISPR does not edit; it creates the break. REPAIR does the editing.</a:t>
            </a:r>
          </a:p>
        </p:txBody>
      </p:sp>
      <p:pic>
        <p:nvPicPr>
          <p:cNvPr id="6" name="Picture 5" descr="crispr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68961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Repair pathways decide the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NHEJ: active through the cell cycle; error-prone → indels → KNOCKOUT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HDR: S/G2-biased, needs donor → precise correction/KNOCK-IN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Knock-ins are hard: HDR-inefficiency in primary cells; alternatives: HITI, editors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In-frame indels can escape knockouts — screen alleles, validate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Design for the repair pathway you need — not the one you get by default.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Beyond nucleases — base and prime editing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Base editors: dead/nickase Cas9 + deaminase → C→T, A→G (no DSB; bystander risk)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Prime editors: nickase + reverse transcriptase + pegRNA → all base swaps + small indels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dCas9 chassis → CRISPRa (sufficiency) / CRISPRi (necessity) without genome change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Cas12a (staggered cuts, multiplexing), Cas13 (RNA targets)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No-DSB editors solve the HDR problem and create their own.</a:t>
            </a:r>
          </a:p>
        </p:txBody>
      </p:sp>
      <p:pic>
        <p:nvPicPr>
          <p:cNvPr id="6" name="Picture 5" descr="base_prime_edi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083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Transgenesis vs genome editing — the honest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Transgenesis ADDS a designed unit; editing CHANGES an endogenous sequence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Random vs defined locus; positional effects vs native context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Multiplexing: each construct vs several sgRNAs in one experiment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Big cargo (BACs/transposons) vs size-limited delivery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Modern projects often use both: edited allele + transgenic reporter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Pick by goal: add a program or change a letter.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Off-targets, mosaicism,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Off-targets: partial-match sites; mitigate by guide design, hi-fi variants, RNP delivery — and EMPIRICAL checks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Mosaicism: post-one-cell editing → different alleles per tissue → genotype multiple tissues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Validation: bulk genotyping → isolate → zygosity → off-target screen → outcross → line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F0 screens (zebrafish crispants) ≠ founder genetics (mouse) — timing of germline differs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edit is not done until the line is genotyped and the protein checked.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CRISPR workflow — design to genotyped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Design: guide choice (on-target + off-target scoring), donor if knock-in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Delivery: RNP / mRNA / plasmid — transient expression limits exposure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Bulk genotyping: amplicon sequencing or Sanger-deconvolution (ICE-class)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Isolate founders/colonies → zygosity → off-target screen → outcross → line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Protein/function validation: Western, activity, phenotype rescue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Editing projects are genotyping projects with a biology question at the end.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CRISPR screens — loss-of-function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Genome-wide sgRNA libraries → pooled cell populations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Dropout/enrichment analysis → essential genes, drug-resistance factors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Landmark: Shalem/Wang 2014 genome-wide knockout screens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CRISPRa/i screens: gain-of-function and repression coverage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Analysis discipline: multiple guides per gene, FDR, copy-number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Pooled genetics with programmable guides rewired functional genomics.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Editing vs classical genetics — timing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Classical mouse KO: ES-cell targeting → chimeras → breeding: 1–2 years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CRISPR mouse F0: weeks — but mosaicism and off-targets to manage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Zebrafish crispants: days for loss-of-function phenotypes (F0, transient mosaic)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Arabidopsis: floral-dip transformation + edited lines via segregation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trade: speed vs cleanliness — know which your question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Editing compressed genetics from years to weeks — with new QC duties.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7 · Developmental Gene Expression</a:t>
            </a:r>
          </a:p>
          <a:p>
            <a:r>
              <a:rPr sz="1800">
                <a:solidFill>
                  <a:srgbClr val="BFDBFE"/>
                </a:solidFill>
              </a:rPr>
              <a:t>Differential expression, morphogens, GRNs (Modules 8–10)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Development = differential gene expression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One genome; different transcriptional programs per cell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Cell fate → determination (fixed despite transplantation) → differentiation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Potency narrows: totipotent → pluripotent → multipotent → unipotent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Master regulators: sufficiency demonstrated (myoD) — endogenous mechanisms are multi-input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Developmental biology = which genes are on, where, when, and why.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Morphogens — the French-flag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Localized source → diffusion + degradation → concentration gradient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Cells respond to thresholds → distinct fates at distinct distances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Mechanisms vary (diffusion, transcytosis, cytonemes) — threshold logic is shared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gradient is positional information; interpretation is thresholded.</a:t>
            </a:r>
          </a:p>
        </p:txBody>
      </p:sp>
      <p:pic>
        <p:nvPicPr>
          <p:cNvPr id="6" name="Picture 5" descr="morphoge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94486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recurring signaling cast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Wnt/β-catenin — axis, stem compartments, organizer (dorsal zebrafish)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Hedgehog/Shh — neural-tube DV, limb A–P (ZPA), sclerotome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TGF-β/BMP/Nodal — mesoderm induction, neural induction via BMP inhibition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Notch — lateral inhibition, boundaries (Delta/Jagged → NICD)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FGF — outgrowth (AER), mesoderm migration; Retinoic acid — hindbrain/limb PD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Seven pathways, endlessly recombined, pattern most of the embryo.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Model organisms — who does what best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Drosophila: forward genetics; segmentation hierarchy (Nüsslein-Volhard/Wieschaus, Nobel 1995)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C. elegans: invariant lineage (Sulston); apoptosis, miRNA (lin-4/let-7)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Zebrafish: transparent external development; live imaging; F0 screens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Mouse: mammalian genetics; ES-cell/conditional alleles (Cre-lox)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Arabidopsis: plant development; WUS/CLV stem-cell niche; ABC floral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model is a tool chosen by the question, not by habit.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Hox genes and body-plan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Conserved clusters specifying A–P identity (Lewis 1978; McGinnis/Krumlauf)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Colinearity: 3′ = anterior/early; 5′ = posterior/late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Ectopic expression → homeotic transformations (Antennapedia legs-for-antennae)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Colinearity implies shared chromatin/regulatory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One regulatory architecture, deployed along the axis, in nearly all animals.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Drosophila segmentation — the first GRN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Maternal gradients (Bicoid/Nanos) → gap genes → pair-rule (7 stripes) → segment-polarity (14) → Hox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Cross-regulation sharpens every boundary (mutual repression, e.g., Gt/Kni)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Each layer is more spatially precise AND later in time — refinement cascade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Patterning is a temporal refinement cascade over spatial information.</a:t>
            </a:r>
          </a:p>
        </p:txBody>
      </p:sp>
      <p:pic>
        <p:nvPicPr>
          <p:cNvPr id="6" name="Picture 5" descr="grn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64445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Neural tube — the Shh textbook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Shh from notochord/floor plate; BMPs from roof plate — opposing gradients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Concentration AND duration of Shh → V3 → motor → V2 → V1 ventral classes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Ectopic Shh induces ventral fates dorsally — sufficiency demonstrated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Domains (nkx2.2, pax6, olfm-class boundaries) execute what gradients inform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Gradients inform; domains execute; cross-repression sharpens.</a:t>
            </a:r>
          </a:p>
        </p:txBody>
      </p:sp>
      <p:pic>
        <p:nvPicPr>
          <p:cNvPr id="6" name="Picture 5" descr="neural_tube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14882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8 · Spatial &amp; Temporal Expression</a:t>
            </a:r>
          </a:p>
          <a:p>
            <a:r>
              <a:rPr sz="1800">
                <a:solidFill>
                  <a:srgbClr val="BFDBFE"/>
                </a:solidFill>
              </a:rPr>
              <a:t>Where, when — and the methods that resolve each (Module 9)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Three axes of every expression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SPATIAL — where in organism/tissue/cell?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TEMPORAL — when in development/response?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QUANTITATIVE — how much, relative to what control?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Bulk measurements integrate all three away — resolution is a design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State the axis before choosing the method.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Spatial concepts — gradient vs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Gradient: continuous concentration change (Bicoid A–P; Shh D–V)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Domain: sharply bounded expression region (eve stripe 2; nkx2.2)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Tissue- vs cell-type- vs stage-specificity — nested restrictions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Gradients usually inform; domains usually execute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Gradient geometry carries information; domain geometry records decisions.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Spatiotemporal case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Drosophila A–P: maternal gradient → zygotic stripes — refinement cascade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Zebrafish somitogenesis: clock (Notch-linked oscillations) + wavefront (FGF/Wnt)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Neural tube: gradient × duration → fate classes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Arabidopsis flower: concentric ABC classes × staged identity (LFY/AP1 first)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Every developmental pattern is an intersection of space and time.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Method fit — resolving space and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ISH / RNA-FISH: endogenous mRNA, spatial (endpoint)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IHC/IF: protein spatial map (endpoint; antibody-dependent)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Reporters (GFP/luc): LIVE dynamics of a regulatory element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RT-qPCR: magnitude over time (no space)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scRNA-seq: cell types (no coordinates); Spatial transcriptomics: cells + coordinates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Each method buys resolution on one axis by spending it on another.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Temporal expression — developmental timing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Stage-specific genes: windows of activity (hunchback early; myod1 at commitment)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Maternal → zygotic transition: maternal mRNAs decay, zygotic genome activates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Oscillating genes: segmentation clocks (her1/7 in zebrafish PSM)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Staging rigor: hpf/somite counts/E-days — the temporal variable must be controlled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Heatmap reading: decaying rows = maternal; rising rows = zygotic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Temporal patterns have signatures — learn to read decay vs rise vs oscillation.</a:t>
            </a:r>
          </a:p>
        </p:txBody>
      </p:sp>
      <p:pic>
        <p:nvPicPr>
          <p:cNvPr id="6" name="Picture 5" descr="expres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52252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Expression gradients — case 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Bicoid (Drosophila): maternal mRNA → A–P protein gradient → hunchback activation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Shh (vertebrates): notochord/floor-plate source → DV neural tube + limb ZPA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BMP (dorsal ectoderm): opposing Shh — dorsal fates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Wnt: axis elongation, organizer, stem niches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Retinoic acid: RALDH-synthesis vs CYP26-degradation gradients — hindbrain/limb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Gradients are built by production AND destruction — both are regulatory.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Expression domains — case 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 stripe 2 (Drosophila): the classic enhancer-dissection textbook case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engrailed stripes: segment-polarity maintenance via wg/hh feedback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nkx2.2 / pax6 boundary (neural tube): cross-repression sharpens the edge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ABC-class MADS genes (Arabidopsis): concentric whorl domains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Domains often sit ON gradients — the readout is binary, the input is analog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Domains are the writable output of gradient-reading circuits.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Designing a spatiotemporal study — the 7-point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State the question on BOTH axes (where AND when)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Choose resolution: cell type vs region vs whole embryo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Choose method(s): endpoint (ISH/IF) vs live (reporter) vs snapshot omics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Staging control: define the temporal variable rigorously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Replicates: biological (clutches/litters) — not just technical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Controls: sense/no-probe, known marker, reporter controls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Quantification plan BEFORE imaging: area, intensity,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Spatial studies fail on staging and quantification planning, not on stains.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9 · Experimental Methods</a:t>
            </a:r>
          </a:p>
          <a:p>
            <a:r>
              <a:rPr sz="1800">
                <a:solidFill>
                  <a:srgbClr val="BFDBFE"/>
                </a:solidFill>
              </a:rPr>
              <a:t>From probe design to spatial matrices (Module 11)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In situ hybridization — endogenous spatial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Fix/permeabilize → antisense labeled probe → hybridize → stringent wash → detect → image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Antisense = true signal; sense probe = CANNOT pair → the clean negative control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Controls: no-probe, known-marker (positive + staging), replicates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Semi-quantitative: pattern is trustworthy; absolute amount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ISH answers 'where, endogenously' — at the cost of being an endpoint.</a:t>
            </a:r>
          </a:p>
        </p:txBody>
      </p:sp>
      <p:pic>
        <p:nvPicPr>
          <p:cNvPr id="6" name="Picture 5" descr="ish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84356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RNA-based quantitation — RT-qPCR and RNA-seq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RT-qPCR: RT → real-time amplification → Cq → ΔΔCt vs validated references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Controls: no-RT (genomic DNA), no-template (contamination), reference stability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Bulk RNA-seq: library → sequence → count matrix → normalize → model → FDR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Bulk = average over cells: heterogeneity and small hot regions vanish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Quantitation needs validated references — and honest averages.</a:t>
            </a:r>
          </a:p>
        </p:txBody>
      </p:sp>
      <p:pic>
        <p:nvPicPr>
          <p:cNvPr id="6" name="Picture 5" descr="qpcr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84356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Single-cell RNA-seq — types without places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Dissociate → barcode (UMIs) → sequence → cells × genes matrix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QC (library size, genes/cell, doublets) → normalize → PCA/UMAP → cluster → marker annotation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Trajectories/pseudotime: transcriptional order, NOT clock time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Dropout: absence of a low transcript ≠ absence of biology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scRNA-seq resolves WHAT cells are — not WHERE they are.</a:t>
            </a:r>
          </a:p>
        </p:txBody>
      </p:sp>
      <p:pic>
        <p:nvPicPr>
          <p:cNvPr id="6" name="Picture 5" descr="scrnaseq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84356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Spatial transcriptomics — expression in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Array-based: tissue on barcoded spots (~55 µm; spot = several cells → deconvolution)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Imaging-based (MERFISH/seqFISH-class): barcoded probes decoded in situ — hundreds of genes, single cell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Output: expression matrix WITH coordinates, aligned to histology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Enables: region markers, gradients, ligand–receiver neighborhood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Spatial transcriptomics reconnects molecular state to anatomy.</a:t>
            </a:r>
          </a:p>
        </p:txBody>
      </p:sp>
      <p:pic>
        <p:nvPicPr>
          <p:cNvPr id="6" name="Picture 5" descr="spati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84356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smFISH and multiplexed imaging — single molecules in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Many short oligos per transcript → diffraction-limited spots = single mRNAs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Absolute counts per cell; nascent transcription sites visible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Subcellular localization: mRNA transport, granules, cortical enrichment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MERFISH/seqFISH-class: barcoded sequential imaging → hundreds–thousands of genes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bridge between classical ISH and spatial transcriptomics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Counting molecules in place turns expression into measurable distributions.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Immunohistochemistry / immunofluorescence — the protein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Antibody binding → chromogenic or fluorescent detection of PROTEIN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Controls: no-primary, isotype, knockout tissue, secondary-only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Specificity must be validated — antibodies are the field's known weak point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IHC/ISH disagreement = post-transcriptional regulation — real biology, not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Protein maps complete mRNA maps — disagreement is information.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Method choice — the one-slide decision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WHERE, one/few genes, endogenous? → ISH / RNA-FISH / IF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WHERE + DYNAMICS? → reporter (validated element) + ISH confirmation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WHICH GENES define a cell type/region? → scRNA-seq or spatial transcriptomics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HOW MUCH over time, few genes? → RT-qPCR time course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GENOME-WIDE across stages? → bulk RNA-seq + targeted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Discover broadly → validate spatially and functionally.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10 · Computational Analysis</a:t>
            </a:r>
          </a:p>
          <a:p>
            <a:r>
              <a:rPr sz="1800">
                <a:solidFill>
                  <a:srgbClr val="BFDBFE"/>
                </a:solidFill>
              </a:rPr>
              <a:t>Reading gels, Cqs and count matrices (Module 12)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Cloning data — the diagnostic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Gel: migration ∝ log(size); interpolate against a ladder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Colony PCR: flanking primers = size; vector+insert primers = orientation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Diagnostic digest: fragments must match the map AND sum to plasmid size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Sum &gt; map size → rearrangement — the check everyone skips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Two rules: interpolate against the ladder; always sum the fragments.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qPCR — ΔΔCt done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ΔCt = Cq(target) − Cq(reference) · ΔΔCt vs calibrator · FC = 2^(−ΔΔCt)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Assumes ~100% efficiency; otherwise efficiency-corrected (Pfaffl)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Statistics on ΔCt (normal-ish), never on fold changes (skewed)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Geometric-mean references; report n, references, test, effect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Validated references are the difference between data and noise.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Bulk RNA-seq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Filter low counts → normalize (size factors/CPM) → model → Benjamini–Hochberg FDR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Sort by effect size (|log2FC|), filter by FDR — never p alone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20,000 tests at 5% FDR ≈ 1,000 expected false calls — that's what FDR means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Batch must not confound condition — check PCA BEFORE interpreting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Design and multiple-testing discipline precede any gene list.</a:t>
            </a:r>
          </a:p>
        </p:txBody>
      </p:sp>
      <p:pic>
        <p:nvPicPr>
          <p:cNvPr id="6" name="Picture 5" descr="rnaseq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843563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Single-cell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QC: library size, detected genes, doublets → normalize/log → PCA → cluster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Annotate clusters with marker genes (pax6a-neural; myod1-muscle; hbbe1-blood)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Subclusters reveal transitions (low-myod1 differentiating precursors)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Pseudotime orders transcriptional states — developmental sequence, not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Clusters are hypotheses; markers and validation turn them into cell types.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Spatial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Join matrix + coordinates + (training) region labels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Region-mean expression → top marker per region → in-silico in situ (x,y plots)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Gradient test: correlate expression with distance (r ≈ −0.6 edge-gene example)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Ligand in region A neighboring receptor in region B = hypothesis to validate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Spatial matrices generate spatial hypotheses; ISH and perturbation confirm them.</a:t>
            </a:r>
          </a:p>
        </p:txBody>
      </p:sp>
      <p:pic>
        <p:nvPicPr>
          <p:cNvPr id="6" name="Picture 5" descr="spatial_map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916451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RNA-seq quality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Biological replicates: n≥3 is the floor — technical reps never substitute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Batch balance: randomize/interleave conditions across processing batches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Strandedness, polyA vs total RNA — declare and record library choices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QC before interpretation: mapping rate, duplication, 3′ bias, PCA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Report: n, normalization, test, FDR, effect size —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RNA-seq credibility is decided at design time, not analysis time.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Volcano plots and honest gene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x = log2FC (effect), y = −log10 p (evidence) — read both, filter by FDR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1,800-gene-no-effect trap: near-zero FCs at scale = design artifact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Low-count genes: unstable FCs — filter before testing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Annotate gene lists with what you KNOW (pathway membership) — interpret, don't just rank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Effect size + FDR + biology = an interpretable gene list.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11 · Case Studies</a:t>
            </a:r>
          </a:p>
          <a:p>
            <a:r>
              <a:rPr sz="1800">
                <a:solidFill>
                  <a:srgbClr val="BFDBFE"/>
                </a:solidFill>
              </a:rPr>
              <a:t>Twelve cases linking tools to biology (Module 13)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Agricultural GMOs — three arcs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Bt crops: Cry toxins; pesticide-use reductions; resistance evolution → refuges/pyramids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Golden Rice: endosperm provitamin A (psy+crtI); approvals 2021→; deployment debates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Gene-edited crops: native-locus knockouts (waxy corn, MLO wheat) — product vs process regulation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Traits live or die on evidence AND governance.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Medical and research classics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Recombinant insulin (1982): rDNA's clinical proof — small, non-glycosylated protein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GFP organisms (1994→): live imaging revolution — promoter vs fusion logic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Disease models: apoE−/−, mdx, SOD1-G93A — face/content/predictive validity; partial replication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CRISPR knockouts/screens (2014→): loss-of-function genetics democratized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Models are tools with known failure modes — state them.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Developmental case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Hox regulation: colinear clusters; enhancer deletions shift boundaries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Drosophila patterning: the first fully-worked GRN cascade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Shh spatial signaling: gradient → threshold fates (V3→V1); duration matters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Single-cell atlases: cell-type catalogs far richer than histology suggested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Spatial transcriptomics: molecular anatomy — Method of the Year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Developmental cases show WHY the tools matter.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Case study — PRSV-resistant papaya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Biological question: can pathogen-derived resistance save a devastated industry?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Strategy: viral coat-protein gene expressed in papaya ('Rainbow', 1998)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Mechanism: coat-protein-mediated resistance against Papaya Ringspot Virus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Result: Hawaiian papaya production recovered; classic public-sector GMO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Lesson: trait design from the pathogen's own biology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Resistance can be engineered FROM the pathogen itself.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Case study — single-cell atlas of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Question: how many cell types exist, and how do they arise?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Strategy: scRNA-seq across stages (organogenesis atlases; zebrafish embryogenesis)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Result: cell-type catalogs far richer than histology suggested; trajectory structure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Interpretation: development as a branching transcriptional landscape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Limits: no coordinates (motivates spatial methods); dropout; snapshots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scRNA-seq redefined the unit of developmental biology: the cell type.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12 · Ethics, Biosafety &amp; Regulation</a:t>
            </a:r>
          </a:p>
          <a:p>
            <a:r>
              <a:rPr sz="1800">
                <a:solidFill>
                  <a:srgbClr val="BFDBFE"/>
                </a:solidFill>
              </a:rPr>
              <a:t>Four layers, kept distinct (Module 14)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four-layer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Scientific evidence — what we can measure (gene flow, resistance, safety studies)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Risk assessment — structured hazard × exposure × consequence, vs baseline practice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Ethical considerations — autonomy, justice, animal welfare, germline consent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Policy/regulation — process-based (EU) vs product-based (US) framings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Separate the layers — then argue explicitly.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Biosafety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Containment levels by organism/system; institutional IBC/ETH approval governs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Teaching labs: disabled strains, instructor-approved materials, institutional SOPs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This course: conceptual workflows + simulations; no operational animal/viral parameters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DURC and gain-of-function research: dedicated oversight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Biosafety is a practice, not a paragraph.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Editing humans — the bright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2018 He Jiankui CCR5 case: condemned broadly — oversight, consent, transparency failures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WHO 2021 governance framework: strict limits on heritable human editing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Somatic vs germline distinction: therapy for a patient vs changes to future persons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Technical possibility ≠ ethical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Some lines are drawn by governance capacity, not by technique.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Gene flow and environmental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Pollen-mediated outcrossing: documented for canola, maize (low frequencies)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Depends on species, distance, sexual compatibility with wild relatives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Horizontal gene transfer mechanisms exist — assessed case-by-case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Resistance evolution: documented in Bt target pests; refuge/pyramid management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Herbicide-tolerance weeds: selection pressure — a management, not gene-flow,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Environmental risk assessment is quantitative, not categorical.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Food safety assessment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Codex Alimentarius: the international reference for GM food safety assessment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Compositional equivalence: targeted comparison with conventional counterparts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Novel protein screening: digestibility, homology to allergens/toxins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Feeding studies where indicated — case-by-case, not universal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Decades of consumption through major regulatory systems + documented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Safety is assessed per product — the category label settles nothing.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13 · Advanced Concepts</a:t>
            </a:r>
          </a:p>
          <a:p>
            <a:r>
              <a:rPr sz="1800">
                <a:solidFill>
                  <a:srgbClr val="BFDBFE"/>
                </a:solidFill>
              </a:rPr>
              <a:t>Chromatin, circuits, and the editing frontier (Module 15)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Regulatory chromatin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H3K4me1+H3K27ac = active enhancer · H3K27me3 = Polycomb · bivalency = poised lineage genes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ATAC-seq: open chromatin + TF footprints; ChIP/CUT&amp;Tag: occupancy maps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Pioneer factors open nucleosomal DNA — why some TFs reprogram identity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DNA methylation: stable repression; imprinting; developmental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Chromatin is the cell's memory and its option book.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3D genome and super-enhancers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TADs constrain enhancer search space (CTCF/cohesin boundaries)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Loops and condensate models — active research debate, present as such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Super-enhancers: dense H3K27ac/Mediator/BRD4 clusters controlling identity genes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Enhancer hijacking: structural variants relocate enhancers near oncogenes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Who contacts whom is regulatory information.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Synthetic circuits and conditional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Motifs → circuits: toggles, repressilators, AND-gates, band-pass filters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Conditional toolkits: Cre-lox, Flp-FRT, Dre-rox; Tet-On/Off; Gal4/UAS (fly, fish)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Intersectional strategies: Cre+Flp overlaps → precision expression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SynNotch: custom ligand → transcriptional program (cell-therapy logic)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motifs developmental biology discovered became engineering parts.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CRISPR frontier — multiplex and epigenome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Multiplexing: Cas12a arrays, tRNA/ribozyme-flanked guides — pathways, polygenic traits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CRISPRa/i: targeted up/down-regulation — sufficiency/necessity without DNA change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Epigenome editing: dCas9-DNMT3A/TET1 — targeted methylation (memory varies)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Prime editing: search-and-replace without donors — locus- and cell-dependent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editing frontier is about control precision, not just cutting.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Advanced — gene regulatory network 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Inputs: expression (scRNA/time-course) + chromatin (ATAC/ChIP) + motifs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Edge inference: co-expression, motif enrichment, perturbation signatures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Prioritize → perturb (KO/CRISPRi) → reporter test → validate downstream fates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Co-expression is not causation — perturbation is the gold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Inferred edges are hypotheses; perturbation is the referee.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Advanced — developmental trajectories and lineage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Pseudotime: order cells by transcriptional similarity along a trajectory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RNA velocity: spliced/unspliced ratios add directionality (assumptions apply)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Lineage tracing: barcode-based phylogenies reconstruct fate decisions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States vs types: continuous variation within a type; cell-cycle confounds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Pseudotime ≠ chronological time — anchor with real timepoints where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Trajectories reconstruct sequence from snapshots — carefully.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Advanced — transcriptional bursting and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RNAPII transcription is intermittent: bursts separated by refractory periods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Consequences: cell-to-cell variability in isogenic populations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Measurement: MS2/MCP live stem-loop imaging; smFISH distributions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Burst size vs frequency: promoter kinetics from count distributions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Noise is developmental material: robustness mechanisms exist because noise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Gene expression is stochastic — regulation means shaping distributions.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14 · Review &amp; Assessment</a:t>
            </a:r>
          </a:p>
          <a:p>
            <a:r>
              <a:rPr sz="1800">
                <a:solidFill>
                  <a:srgbClr val="BFDBFE"/>
                </a:solidFill>
              </a:rPr>
              <a:t>Consolidate and test (Assessment package)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course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Tools: cloning (restriction → Gibson/Golden Gate/Gateway) → constructs → reporters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Delivery: transformation / Agrobacterium / embryo editing → GMOs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Editing: CRISPR → NHEJ/HDR → base/prime editors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Biology: differential expression → morphogens → GRNs → spatial-temporal maps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Reading data: gels → ΔΔCt → RNA-seq FDR → clusters → spatial gradients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Responsibility: evidence → risk → ethics →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One coherent pipeline: build → deliver → measure → interpret → justify.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Cheat-sheet highlights — the exam's favorite traps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Dolly = cloning, not transgenesis · PAM is on the genomic side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White colony = candidate, not proof · PCR counts ≠ correct-clone counts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Statistics on ΔCt, not fold change · dropout ≠ absence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Reporter = sufficiency; ISH = endogenous; perturbation = necessity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Gradient (continuous) vs domain (bounded); sum digest fragments!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Most lost marks are category errors — fixable by terminology discipline.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Assessment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50 MCQs (recall → evaluation) with explained key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30 short · 20 long · 40 viva questions with model answers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12 case-based + 10 data-interpretation questions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9 labs with workbook keys · capstone project with rubric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Everything cross-linked: labs ↔ modules ↔ datasets ↔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Assessment mirrors the course: every tool tested in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